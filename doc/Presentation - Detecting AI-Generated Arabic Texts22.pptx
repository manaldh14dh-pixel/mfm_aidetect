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TC Avant Garde Gothic" panose="020B0604020202020204" charset="0"/>
      <p:regular r:id="rId14"/>
    </p:embeddedFont>
    <p:embeddedFont>
      <p:font typeface="ITC Avant Garde Gothic Bold" panose="020B0604020202020204" charset="0"/>
      <p:regular r:id="rId15"/>
    </p:embeddedFont>
    <p:embeddedFont>
      <p:font typeface="TT Fors" panose="020B0604020202020204" charset="0"/>
      <p:regular r:id="rId16"/>
    </p:embeddedFont>
    <p:embeddedFont>
      <p:font typeface="TT For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463AFED-106A-42C5-959B-FEEE274F4BF5}" type="datetimeFigureOut">
              <a:rPr lang="ar-SA" smtClean="0"/>
              <a:t>24/06/1447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42A8475C-8EA5-4CCC-A5A1-A72D1259331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7803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8475C-8EA5-4CCC-A5A1-A72D1259331E}" type="slidenum">
              <a:rPr lang="ar-SA" smtClean="0"/>
              <a:t>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3081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62098" y="2262698"/>
            <a:ext cx="9763125" cy="5039360"/>
            <a:chOff x="0" y="0"/>
            <a:chExt cx="13017500" cy="6719146"/>
          </a:xfrm>
        </p:grpSpPr>
        <p:sp>
          <p:nvSpPr>
            <p:cNvPr id="5" name="TextBox 5"/>
            <p:cNvSpPr txBox="1"/>
            <p:nvPr/>
          </p:nvSpPr>
          <p:spPr>
            <a:xfrm>
              <a:off x="0" y="1303656"/>
              <a:ext cx="13017500" cy="5415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Detecting AI-Generated Arabic Texts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13017500" cy="7647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>
                  <a:solidFill>
                    <a:srgbClr val="102A43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MFM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463448" y="504555"/>
            <a:ext cx="17154921" cy="8592805"/>
          </a:xfrm>
          <a:custGeom>
            <a:avLst/>
            <a:gdLst/>
            <a:ahLst/>
            <a:cxnLst/>
            <a:rect l="l" t="t" r="r" b="b"/>
            <a:pathLst>
              <a:path w="17154921" h="8592805">
                <a:moveTo>
                  <a:pt x="0" y="0"/>
                </a:moveTo>
                <a:lnTo>
                  <a:pt x="17154921" y="0"/>
                </a:lnTo>
                <a:lnTo>
                  <a:pt x="17154921" y="8592805"/>
                </a:lnTo>
                <a:lnTo>
                  <a:pt x="0" y="859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66934" y="1326356"/>
            <a:ext cx="11906066" cy="5095953"/>
            <a:chOff x="0" y="-9525"/>
            <a:chExt cx="15874755" cy="6794603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Problem Statement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235200"/>
              <a:ext cx="15874755" cy="45498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 dirty="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Challenges in AI Detection </a:t>
              </a:r>
            </a:p>
            <a:p>
              <a:pPr lvl="0">
                <a:lnSpc>
                  <a:spcPts val="3839"/>
                </a:lnSpc>
                <a:spcBef>
                  <a:spcPct val="0"/>
                </a:spcBef>
              </a:pPr>
              <a:endParaRPr lang="en-US" sz="3199" spc="-95" dirty="0">
                <a:solidFill>
                  <a:srgbClr val="102A43"/>
                </a:solidFill>
                <a:latin typeface="TT Fors"/>
                <a:sym typeface="TT Fors"/>
              </a:endParaRPr>
            </a:p>
            <a:p>
              <a:pPr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dirty="0">
                  <a:solidFill>
                    <a:srgbClr val="102A43"/>
                  </a:solidFill>
                  <a:latin typeface="TT Fors"/>
                </a:rPr>
                <a:t>Arabic texts generated by AI models have become so similar to human texts that they are difficult to distinguish automatically. This project focuses on developing a classification model based on linguistic and stylistic characteristics to detect Arabic texts generated by artificial intelligence.</a:t>
              </a:r>
              <a:endParaRPr lang="en-US" sz="3199" spc="-95" dirty="0">
                <a:solidFill>
                  <a:srgbClr val="102A43"/>
                </a:solidFill>
                <a:latin typeface="TT Fors"/>
                <a:sym typeface="TT For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3543300"/>
            <a:chOff x="0" y="0"/>
            <a:chExt cx="9182100" cy="4724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Dataset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362325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Exploring the Arabic-generated abstracts for analysis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1562100"/>
            <a:ext cx="6886575" cy="1956435"/>
            <a:chOff x="0" y="0"/>
            <a:chExt cx="9182100" cy="26085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The dataset comes from HuggingFace, specifically designed to facilitate research in AI-generated Arabic texts.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Source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248150"/>
            <a:ext cx="6886575" cy="1956435"/>
            <a:chOff x="0" y="0"/>
            <a:chExt cx="9182100" cy="260858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It consists of over 8,000 abstracts categorized into human-written and AI-generated classes, ensuring robust analysis.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Sample Size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938010"/>
            <a:ext cx="6886575" cy="1956435"/>
            <a:chOff x="0" y="0"/>
            <a:chExt cx="9182100" cy="260858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The focus is on scientific Arabic abstracts, providing a diverse array of contexts for model training and evaluation.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Text Type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615848" y="656955"/>
            <a:ext cx="17154921" cy="8592805"/>
          </a:xfrm>
          <a:custGeom>
            <a:avLst/>
            <a:gdLst/>
            <a:ahLst/>
            <a:cxnLst/>
            <a:rect l="l" t="t" r="r" b="b"/>
            <a:pathLst>
              <a:path w="17154921" h="8592805">
                <a:moveTo>
                  <a:pt x="0" y="0"/>
                </a:moveTo>
                <a:lnTo>
                  <a:pt x="17154921" y="0"/>
                </a:lnTo>
                <a:lnTo>
                  <a:pt x="17154921" y="8592805"/>
                </a:lnTo>
                <a:lnTo>
                  <a:pt x="0" y="859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0575" y="873124"/>
            <a:ext cx="155162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102A4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 Pipeline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6400" y="6377413"/>
            <a:ext cx="6886575" cy="1790700"/>
            <a:chOff x="0" y="0"/>
            <a:chExt cx="9182100" cy="2387600"/>
          </a:xfrm>
        </p:grpSpPr>
        <p:sp>
          <p:nvSpPr>
            <p:cNvPr id="4" name="TextBox 4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Key linguistic features are extracted, focusing on lexical richness, structure, and syntactic elements to differentiate between text types.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Feature Engineering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6400" y="3691296"/>
            <a:ext cx="6886575" cy="1790700"/>
            <a:chOff x="0" y="0"/>
            <a:chExt cx="9182100" cy="2387600"/>
          </a:xfrm>
        </p:grpSpPr>
        <p:sp>
          <p:nvSpPr>
            <p:cNvPr id="7" name="TextBox 7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Data is collected from the HuggingFace dataset "arabic-generated-abstracts," consisting of over 8,000 abstracts for analysis.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Acquisition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37912" y="6377413"/>
            <a:ext cx="6886575" cy="1790700"/>
            <a:chOff x="0" y="0"/>
            <a:chExt cx="9182100" cy="23876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Models are trained on the processed dataset, employing machine learning and deep learning techniques to develop an effective detection system.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Model Training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37912" y="3691430"/>
            <a:ext cx="6886575" cy="1790700"/>
            <a:chOff x="0" y="0"/>
            <a:chExt cx="9182100" cy="23876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Arabic texts are normalized and cleaned, removing stopwords and duplicates to ensure high-quality input for model training.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Text Preprocessing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68248" y="809355"/>
            <a:ext cx="17154921" cy="8592805"/>
          </a:xfrm>
          <a:custGeom>
            <a:avLst/>
            <a:gdLst/>
            <a:ahLst/>
            <a:cxnLst/>
            <a:rect l="l" t="t" r="r" b="b"/>
            <a:pathLst>
              <a:path w="17154921" h="8592805">
                <a:moveTo>
                  <a:pt x="0" y="0"/>
                </a:moveTo>
                <a:lnTo>
                  <a:pt x="17154921" y="0"/>
                </a:lnTo>
                <a:lnTo>
                  <a:pt x="17154921" y="8592805"/>
                </a:lnTo>
                <a:lnTo>
                  <a:pt x="0" y="8592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2975" y="1177924"/>
            <a:ext cx="155162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 dirty="0">
                <a:solidFill>
                  <a:srgbClr val="102A4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Preprocessing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781800" y="7211334"/>
            <a:ext cx="6886575" cy="1790700"/>
            <a:chOff x="0" y="0"/>
            <a:chExt cx="9182100" cy="2387600"/>
          </a:xfrm>
        </p:grpSpPr>
        <p:sp>
          <p:nvSpPr>
            <p:cNvPr id="4" name="TextBox 4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Handling missing values is essential for maintaining data quality, preventing bias in the model due to incomplete information.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Missing Values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1600" y="5305450"/>
            <a:ext cx="6886575" cy="1790700"/>
            <a:chOff x="0" y="0"/>
            <a:chExt cx="9182100" cy="2387600"/>
          </a:xfrm>
        </p:grpSpPr>
        <p:sp>
          <p:nvSpPr>
            <p:cNvPr id="7" name="TextBox 7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Duplicate records are identified and removed to maintain data integrity, ensuring that each sample is unique for analysis.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Duplicate Handling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71600" y="2619400"/>
            <a:ext cx="6886575" cy="1790700"/>
            <a:chOff x="0" y="0"/>
            <a:chExt cx="9182100" cy="23876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Normalization of Arabic letters focuses on Alef variants to ensure consistency and minimize discrepancies across text samples.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Normalization Techniques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77425" y="5143500"/>
            <a:ext cx="6886575" cy="1790700"/>
            <a:chOff x="0" y="0"/>
            <a:chExt cx="9182100" cy="23876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Stemming using the ISRI Arabic Stemmer extracts morphological roots, helping to standardize words and improve feature extraction.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Stemming Process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01225" y="2552700"/>
            <a:ext cx="6886575" cy="1790700"/>
            <a:chOff x="0" y="0"/>
            <a:chExt cx="9182100" cy="23876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Removal of stopwords, punctuation, and non-Arabic symbols enhances the quality of the text, reducing noise for further analysis.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Stopwords Removal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920648" y="961755"/>
            <a:ext cx="17154921" cy="8592805"/>
          </a:xfrm>
          <a:custGeom>
            <a:avLst/>
            <a:gdLst/>
            <a:ahLst/>
            <a:cxnLst/>
            <a:rect l="l" t="t" r="r" b="b"/>
            <a:pathLst>
              <a:path w="17154921" h="8592805">
                <a:moveTo>
                  <a:pt x="0" y="0"/>
                </a:moveTo>
                <a:lnTo>
                  <a:pt x="17154921" y="0"/>
                </a:lnTo>
                <a:lnTo>
                  <a:pt x="17154921" y="8592805"/>
                </a:lnTo>
                <a:lnTo>
                  <a:pt x="0" y="859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55162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102A4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Key Features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7829550"/>
            <a:ext cx="6886575" cy="1790700"/>
            <a:chOff x="0" y="0"/>
            <a:chExt cx="9182100" cy="2387600"/>
          </a:xfrm>
        </p:grpSpPr>
        <p:sp>
          <p:nvSpPr>
            <p:cNvPr id="4" name="TextBox 4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Utilizing BERT embeddings captures nuanced semantic relationships, enhancing the model's ability to discern AI-generated text from human-crafted content.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Semantic Features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500"/>
            <a:ext cx="6886575" cy="1790700"/>
            <a:chOff x="0" y="0"/>
            <a:chExt cx="9182100" cy="2387600"/>
          </a:xfrm>
        </p:grpSpPr>
        <p:sp>
          <p:nvSpPr>
            <p:cNvPr id="7" name="TextBox 7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Readability scores, such as Flesch–Kincaid, provide insights into text complexity, differentiating between human and AI writing styles effectively.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Readability Metrics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2457450"/>
            <a:ext cx="6886575" cy="1790700"/>
            <a:chOff x="0" y="0"/>
            <a:chExt cx="9182100" cy="23876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Lexical richness metrics like Yule’s K and Simpson’s Index quantify vocabulary diversity, influencing the detection of AI-generated texts.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Lexical Richness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5143500"/>
            <a:ext cx="6886575" cy="1790700"/>
            <a:chOff x="0" y="0"/>
            <a:chExt cx="9182100" cy="23876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The frequency of diacritics (Tashkeel) in the text serves as an essential feature for distinguishing stylistic differences in Arabic writing.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Diacritics Usage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96400" y="2457450"/>
            <a:ext cx="6886575" cy="1790700"/>
            <a:chOff x="0" y="0"/>
            <a:chExt cx="9182100" cy="23876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Analyzing sentence and paragraph structures helps identify patterns typical of AI-generated content, contributing to more accurate classification.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Sentence Structure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073048" y="1114155"/>
            <a:ext cx="17154921" cy="8592805"/>
          </a:xfrm>
          <a:custGeom>
            <a:avLst/>
            <a:gdLst/>
            <a:ahLst/>
            <a:cxnLst/>
            <a:rect l="l" t="t" r="r" b="b"/>
            <a:pathLst>
              <a:path w="17154921" h="8592805">
                <a:moveTo>
                  <a:pt x="0" y="0"/>
                </a:moveTo>
                <a:lnTo>
                  <a:pt x="17154921" y="0"/>
                </a:lnTo>
                <a:lnTo>
                  <a:pt x="17154921" y="8592805"/>
                </a:lnTo>
                <a:lnTo>
                  <a:pt x="0" y="8592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3543300"/>
            <a:chOff x="0" y="0"/>
            <a:chExt cx="9182100" cy="4724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Model Selection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362325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Evaluating Approaches for Arabic Text Detection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1562100"/>
            <a:ext cx="6886575" cy="1921320"/>
            <a:chOff x="0" y="0"/>
            <a:chExt cx="9182100" cy="2561759"/>
          </a:xfrm>
        </p:grpSpPr>
        <p:sp>
          <p:nvSpPr>
            <p:cNvPr id="6" name="TextBox 6"/>
            <p:cNvSpPr txBox="1"/>
            <p:nvPr/>
          </p:nvSpPr>
          <p:spPr>
            <a:xfrm>
              <a:off x="0" y="1145201"/>
              <a:ext cx="9182100" cy="1416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6"/>
                </a:lnSpc>
                <a:spcBef>
                  <a:spcPct val="0"/>
                </a:spcBef>
              </a:pPr>
              <a:r>
                <a:rPr lang="en-US" sz="2047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The study utilized various models, including Logistic Regression and Support Vector Machine for robust baseline comparisons in performance.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15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8"/>
                </a:lnSpc>
                <a:spcBef>
                  <a:spcPct val="0"/>
                </a:spcBef>
              </a:pPr>
              <a:r>
                <a:rPr lang="en-US" sz="2535" u="none" strike="noStrike" spc="-76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Selected Models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248150"/>
            <a:ext cx="6886575" cy="1921320"/>
            <a:chOff x="0" y="0"/>
            <a:chExt cx="9182100" cy="2561759"/>
          </a:xfrm>
        </p:grpSpPr>
        <p:sp>
          <p:nvSpPr>
            <p:cNvPr id="9" name="TextBox 9"/>
            <p:cNvSpPr txBox="1"/>
            <p:nvPr/>
          </p:nvSpPr>
          <p:spPr>
            <a:xfrm>
              <a:off x="0" y="1145201"/>
              <a:ext cx="9182100" cy="1416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6"/>
                </a:lnSpc>
                <a:spcBef>
                  <a:spcPct val="0"/>
                </a:spcBef>
              </a:pPr>
              <a:r>
                <a:rPr lang="en-US" sz="2047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AraBERT v02 showcased superior performance, leveraging deep learning's capabilities for understanding and classifying complex Arabic text nuances effectively.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9182100" cy="615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8"/>
                </a:lnSpc>
                <a:spcBef>
                  <a:spcPct val="0"/>
                </a:spcBef>
              </a:pPr>
              <a:r>
                <a:rPr lang="en-US" sz="2535" u="none" strike="noStrike" spc="-76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Deep Learning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938010"/>
            <a:ext cx="6886575" cy="1921320"/>
            <a:chOff x="0" y="0"/>
            <a:chExt cx="9182100" cy="2561759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45201"/>
              <a:ext cx="9182100" cy="1416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6"/>
                </a:lnSpc>
                <a:spcBef>
                  <a:spcPct val="0"/>
                </a:spcBef>
              </a:pPr>
              <a:r>
                <a:rPr lang="en-US" sz="2047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A 70%-15%-15% data split was implemented to train, validate, and test the models, ensuring reliable performance metrics and evaluation.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9182100" cy="615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8"/>
                </a:lnSpc>
                <a:spcBef>
                  <a:spcPct val="0"/>
                </a:spcBef>
              </a:pPr>
              <a:r>
                <a:rPr lang="en-US" sz="2535" u="none" strike="noStrike" spc="-76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Training Split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28700" y="847098"/>
            <a:ext cx="17154921" cy="8592805"/>
          </a:xfrm>
          <a:custGeom>
            <a:avLst/>
            <a:gdLst/>
            <a:ahLst/>
            <a:cxnLst/>
            <a:rect l="l" t="t" r="r" b="b"/>
            <a:pathLst>
              <a:path w="17154921" h="8592805">
                <a:moveTo>
                  <a:pt x="0" y="0"/>
                </a:moveTo>
                <a:lnTo>
                  <a:pt x="17154921" y="0"/>
                </a:lnTo>
                <a:lnTo>
                  <a:pt x="17154921" y="8592804"/>
                </a:lnTo>
                <a:lnTo>
                  <a:pt x="0" y="8592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181100" y="999498"/>
            <a:ext cx="17154921" cy="8592805"/>
          </a:xfrm>
          <a:custGeom>
            <a:avLst/>
            <a:gdLst/>
            <a:ahLst/>
            <a:cxnLst/>
            <a:rect l="l" t="t" r="r" b="b"/>
            <a:pathLst>
              <a:path w="17154921" h="8592805">
                <a:moveTo>
                  <a:pt x="0" y="0"/>
                </a:moveTo>
                <a:lnTo>
                  <a:pt x="17154921" y="0"/>
                </a:lnTo>
                <a:lnTo>
                  <a:pt x="17154921" y="8592804"/>
                </a:lnTo>
                <a:lnTo>
                  <a:pt x="0" y="8592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666750" y="657225"/>
            <a:ext cx="155162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102A4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 Summary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52575" y="4892014"/>
            <a:ext cx="6886575" cy="1790700"/>
            <a:chOff x="0" y="0"/>
            <a:chExt cx="9182100" cy="2387600"/>
          </a:xfrm>
        </p:grpSpPr>
        <p:sp>
          <p:nvSpPr>
            <p:cNvPr id="4" name="TextBox 4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Key features such as diacritics and sentence structure played a crucial role, contributing significantly to the model's classification capabilities.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Feature Impact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2575" y="2205897"/>
            <a:ext cx="6886575" cy="1790700"/>
            <a:chOff x="0" y="0"/>
            <a:chExt cx="9182100" cy="2387600"/>
          </a:xfrm>
        </p:grpSpPr>
        <p:sp>
          <p:nvSpPr>
            <p:cNvPr id="7" name="TextBox 7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The AraBERT model achieved </a:t>
              </a:r>
              <a:r>
                <a:rPr lang="en-US" sz="2100" b="1">
                  <a:solidFill>
                    <a:srgbClr val="102A4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exceptional accuracy</a:t>
              </a: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 of 99.63%, demonstrating its effectiveness in detecting AI-generated Arabic texts.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Model Performance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82225" y="4891947"/>
            <a:ext cx="6886575" cy="1790700"/>
            <a:chOff x="0" y="0"/>
            <a:chExt cx="9182100" cy="23876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The results highlight the need for </a:t>
              </a:r>
              <a:r>
                <a:rPr lang="en-US" sz="2100" b="1">
                  <a:solidFill>
                    <a:srgbClr val="102A4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further research</a:t>
              </a: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 into enhancing detection tools, ensuring the integrity of Arabic text in academic settings.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Implications for Future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82225" y="2205964"/>
            <a:ext cx="6886575" cy="1790700"/>
            <a:chOff x="0" y="0"/>
            <a:chExt cx="9182100" cy="23876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Traditional models like Random Forest and SVM displayed solid performance, yet they lagged behind deep learning methods in understanding semantics.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Comparative Insights</a:t>
              </a:r>
            </a:p>
          </p:txBody>
        </p: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23F55C4-4ADA-E081-89BB-3CA6BD53D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221831"/>
              </p:ext>
            </p:extLst>
          </p:nvPr>
        </p:nvGraphicFramePr>
        <p:xfrm>
          <a:off x="1195848" y="7035981"/>
          <a:ext cx="15925800" cy="237903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771692298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869135917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71085991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96083234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85470290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4095352874"/>
                    </a:ext>
                  </a:extLst>
                </a:gridCol>
              </a:tblGrid>
              <a:tr h="44786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1" kern="1200" dirty="0">
                          <a:solidFill>
                            <a:srgbClr val="102A43"/>
                          </a:solidFill>
                        </a:rPr>
                        <a:t>Model</a:t>
                      </a:r>
                      <a:endParaRPr lang="en-US" sz="2100" b="1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1" kern="1200" dirty="0">
                          <a:solidFill>
                            <a:srgbClr val="102A43"/>
                          </a:solidFill>
                        </a:rPr>
                        <a:t>Accuracy</a:t>
                      </a:r>
                      <a:endParaRPr lang="en-US" sz="2100" b="1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1" kern="1200" dirty="0">
                          <a:solidFill>
                            <a:srgbClr val="102A43"/>
                          </a:solidFill>
                        </a:rPr>
                        <a:t>F1-Score (Target: AI)</a:t>
                      </a:r>
                      <a:endParaRPr lang="en-US" sz="2100" b="1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1" kern="1200" dirty="0">
                          <a:solidFill>
                            <a:srgbClr val="102A43"/>
                          </a:solidFill>
                        </a:rPr>
                        <a:t>Precision (AI)</a:t>
                      </a:r>
                      <a:endParaRPr lang="en-US" sz="2100" b="1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1" kern="1200">
                          <a:solidFill>
                            <a:srgbClr val="102A43"/>
                          </a:solidFill>
                        </a:rPr>
                        <a:t>Recall (AI)</a:t>
                      </a:r>
                      <a:endParaRPr lang="en-US" sz="2100" b="1" kern="120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1" kern="1200" dirty="0">
                          <a:solidFill>
                            <a:srgbClr val="102A43"/>
                          </a:solidFill>
                        </a:rPr>
                        <a:t>ROC-AUC</a:t>
                      </a:r>
                      <a:endParaRPr lang="en-US" sz="2100" b="1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970376"/>
                  </a:ext>
                </a:extLst>
              </a:tr>
              <a:tr h="44786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1" kern="1200" dirty="0">
                          <a:solidFill>
                            <a:srgbClr val="102A43"/>
                          </a:solidFill>
                        </a:rPr>
                        <a:t>BERT</a:t>
                      </a:r>
                      <a:endParaRPr lang="en-US" sz="2100" b="1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 dirty="0">
                          <a:solidFill>
                            <a:srgbClr val="102A43"/>
                          </a:solidFill>
                        </a:rPr>
                        <a:t>99.63%</a:t>
                      </a:r>
                      <a:endParaRPr lang="en-US" sz="2100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>
                          <a:solidFill>
                            <a:srgbClr val="102A43"/>
                          </a:solidFill>
                        </a:rPr>
                        <a:t>0.9977</a:t>
                      </a:r>
                      <a:endParaRPr lang="en-US" sz="2100" kern="120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 dirty="0">
                          <a:solidFill>
                            <a:srgbClr val="102A43"/>
                          </a:solidFill>
                        </a:rPr>
                        <a:t>0.9980</a:t>
                      </a:r>
                      <a:endParaRPr lang="en-US" sz="2100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 dirty="0">
                          <a:solidFill>
                            <a:srgbClr val="102A43"/>
                          </a:solidFill>
                        </a:rPr>
                        <a:t>0.9974</a:t>
                      </a:r>
                      <a:endParaRPr lang="en-US" sz="2100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 dirty="0">
                          <a:solidFill>
                            <a:srgbClr val="102A43"/>
                          </a:solidFill>
                        </a:rPr>
                        <a:t>0.9994</a:t>
                      </a:r>
                      <a:endParaRPr lang="en-US" sz="2100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047307"/>
                  </a:ext>
                </a:extLst>
              </a:tr>
              <a:tr h="44786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1" kern="1200" dirty="0">
                          <a:solidFill>
                            <a:srgbClr val="102A43"/>
                          </a:solidFill>
                        </a:rPr>
                        <a:t>Random Forest</a:t>
                      </a:r>
                      <a:endParaRPr lang="en-US" sz="2100" b="1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>
                          <a:solidFill>
                            <a:srgbClr val="102A43"/>
                          </a:solidFill>
                        </a:rPr>
                        <a:t>98.59%</a:t>
                      </a:r>
                      <a:endParaRPr lang="en-US" sz="2100" kern="120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 dirty="0">
                          <a:solidFill>
                            <a:srgbClr val="102A43"/>
                          </a:solidFill>
                        </a:rPr>
                        <a:t>0.9911</a:t>
                      </a:r>
                      <a:endParaRPr lang="en-US" sz="2100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 dirty="0">
                          <a:solidFill>
                            <a:srgbClr val="102A43"/>
                          </a:solidFill>
                        </a:rPr>
                        <a:t>0.9936</a:t>
                      </a:r>
                      <a:endParaRPr lang="en-US" sz="2100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>
                          <a:solidFill>
                            <a:srgbClr val="102A43"/>
                          </a:solidFill>
                        </a:rPr>
                        <a:t>0.9887</a:t>
                      </a:r>
                      <a:endParaRPr lang="en-US" sz="2100" kern="120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>
                          <a:solidFill>
                            <a:srgbClr val="102A43"/>
                          </a:solidFill>
                        </a:rPr>
                        <a:t>0.9954</a:t>
                      </a:r>
                      <a:endParaRPr lang="en-US" sz="2100" kern="120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825504"/>
                  </a:ext>
                </a:extLst>
              </a:tr>
              <a:tr h="44786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1" kern="1200" dirty="0">
                          <a:solidFill>
                            <a:srgbClr val="102A43"/>
                          </a:solidFill>
                        </a:rPr>
                        <a:t>SVM</a:t>
                      </a:r>
                      <a:endParaRPr lang="en-US" sz="2100" b="1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>
                          <a:solidFill>
                            <a:srgbClr val="102A43"/>
                          </a:solidFill>
                        </a:rPr>
                        <a:t>95.77%</a:t>
                      </a:r>
                      <a:endParaRPr lang="en-US" sz="2100" kern="120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 dirty="0">
                          <a:solidFill>
                            <a:srgbClr val="102A43"/>
                          </a:solidFill>
                        </a:rPr>
                        <a:t>0.9738</a:t>
                      </a:r>
                      <a:endParaRPr lang="en-US" sz="2100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 dirty="0">
                          <a:solidFill>
                            <a:srgbClr val="102A43"/>
                          </a:solidFill>
                        </a:rPr>
                        <a:t>0.9656</a:t>
                      </a:r>
                      <a:endParaRPr lang="en-US" sz="2100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 dirty="0">
                          <a:solidFill>
                            <a:srgbClr val="102A43"/>
                          </a:solidFill>
                        </a:rPr>
                        <a:t>0.9821</a:t>
                      </a:r>
                      <a:endParaRPr lang="en-US" sz="2100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kern="1200" dirty="0">
                          <a:solidFill>
                            <a:srgbClr val="102A43"/>
                          </a:solidFill>
                        </a:rPr>
                        <a:t>0.9846</a:t>
                      </a:r>
                      <a:endParaRPr lang="en-US" sz="2100" kern="1200" dirty="0">
                        <a:solidFill>
                          <a:srgbClr val="102A43"/>
                        </a:solidFill>
                        <a:latin typeface="TT Fors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518178"/>
                  </a:ext>
                </a:extLst>
              </a:tr>
              <a:tr h="447868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1" kern="1200" dirty="0">
                          <a:solidFill>
                            <a:srgbClr val="102A43"/>
                          </a:solidFill>
                        </a:rPr>
                        <a:t>Logistic Regression</a:t>
                      </a:r>
                      <a:endParaRPr lang="en-US" sz="2100" b="1" kern="1200" dirty="0">
                        <a:solidFill>
                          <a:srgbClr val="102A43"/>
                        </a:solidFill>
                        <a:latin typeface="TT Fors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0" kern="1200" dirty="0">
                          <a:solidFill>
                            <a:srgbClr val="102A43"/>
                          </a:solidFill>
                        </a:rPr>
                        <a:t>94.45%</a:t>
                      </a:r>
                      <a:endParaRPr lang="en-US" sz="2100" b="0" kern="1200" dirty="0">
                        <a:solidFill>
                          <a:srgbClr val="102A43"/>
                        </a:solidFill>
                        <a:latin typeface="TT Fors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0" kern="1200" dirty="0">
                          <a:solidFill>
                            <a:srgbClr val="102A43"/>
                          </a:solidFill>
                        </a:rPr>
                        <a:t>0.9649</a:t>
                      </a:r>
                      <a:endParaRPr lang="en-US" sz="2100" b="0" kern="1200" dirty="0">
                        <a:solidFill>
                          <a:srgbClr val="102A43"/>
                        </a:solidFill>
                        <a:latin typeface="TT Fors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0" kern="1200" dirty="0">
                          <a:solidFill>
                            <a:srgbClr val="102A43"/>
                          </a:solidFill>
                        </a:rPr>
                        <a:t>0.9780</a:t>
                      </a:r>
                      <a:endParaRPr lang="en-US" sz="2100" b="0" kern="1200" dirty="0">
                        <a:solidFill>
                          <a:srgbClr val="102A43"/>
                        </a:solidFill>
                        <a:latin typeface="TT Fors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0" kern="1200" dirty="0">
                          <a:solidFill>
                            <a:srgbClr val="102A43"/>
                          </a:solidFill>
                        </a:rPr>
                        <a:t>0.9521</a:t>
                      </a:r>
                      <a:endParaRPr lang="en-US" sz="2100" b="0" kern="1200" dirty="0">
                        <a:solidFill>
                          <a:srgbClr val="102A43"/>
                        </a:solidFill>
                        <a:latin typeface="TT Fors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b="0" kern="1200" dirty="0">
                          <a:solidFill>
                            <a:srgbClr val="102A43"/>
                          </a:solidFill>
                        </a:rPr>
                        <a:t>0.9796</a:t>
                      </a:r>
                      <a:endParaRPr lang="en-US" sz="2100" b="0" kern="1200" dirty="0">
                        <a:solidFill>
                          <a:srgbClr val="102A43"/>
                        </a:solidFill>
                        <a:latin typeface="TT Fors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5350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2066" y="1202055"/>
            <a:ext cx="6886575" cy="3543300"/>
            <a:chOff x="0" y="0"/>
            <a:chExt cx="9182100" cy="4724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Feature Importance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362325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 dirty="0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Unveiling key factors in AI text classification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1562100"/>
            <a:ext cx="6886575" cy="1956435"/>
            <a:chOff x="0" y="0"/>
            <a:chExt cx="9182100" cy="26085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Diacritics (Tashkeel) proved to be the most influential feature, significantly impacting the model's decision-making process and accuracy.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Diacritics Usage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248150"/>
            <a:ext cx="6886575" cy="1956435"/>
            <a:chOff x="0" y="0"/>
            <a:chExt cx="9182100" cy="260858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Sentence length emerged as a critical differentiator, allowing the model to effectively classify texts based on structural patterns.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Sentence Length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938010"/>
            <a:ext cx="6886575" cy="1956435"/>
            <a:chOff x="0" y="0"/>
            <a:chExt cx="9182100" cy="260858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Readability scores, such as Flesch-Kincaid, were essential in discerning between AI-generated and human-written texts, enhancing classification accuracy.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Readability Metrics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333500" y="1151898"/>
            <a:ext cx="17154921" cy="8592805"/>
          </a:xfrm>
          <a:custGeom>
            <a:avLst/>
            <a:gdLst/>
            <a:ahLst/>
            <a:cxnLst/>
            <a:rect l="l" t="t" r="r" b="b"/>
            <a:pathLst>
              <a:path w="17154921" h="8592805">
                <a:moveTo>
                  <a:pt x="0" y="0"/>
                </a:moveTo>
                <a:lnTo>
                  <a:pt x="17154921" y="0"/>
                </a:lnTo>
                <a:lnTo>
                  <a:pt x="17154921" y="8592804"/>
                </a:lnTo>
                <a:lnTo>
                  <a:pt x="0" y="8592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0" name="صورة 19" descr="صورة تحتوي على نص, لقطة شاشة, الخط, رسم بياني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B70DFB08-7147-34D5-FE3E-54E1725F6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177" y="4925446"/>
            <a:ext cx="7475423" cy="44852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55162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102A4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Error Analysis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7829550"/>
            <a:ext cx="6886575" cy="1790700"/>
            <a:chOff x="0" y="0"/>
            <a:chExt cx="9182100" cy="2387600"/>
          </a:xfrm>
        </p:grpSpPr>
        <p:sp>
          <p:nvSpPr>
            <p:cNvPr id="4" name="TextBox 4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The findings highlight the need for </a:t>
              </a:r>
              <a:r>
                <a:rPr lang="en-US" sz="2100" b="1">
                  <a:solidFill>
                    <a:srgbClr val="102A4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improved training</a:t>
              </a: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 data to address specific stylistic overlaps and enhance detection accuracy.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Implications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500"/>
            <a:ext cx="6886575" cy="1790700"/>
            <a:chOff x="0" y="0"/>
            <a:chExt cx="9182100" cy="2387600"/>
          </a:xfrm>
        </p:grpSpPr>
        <p:sp>
          <p:nvSpPr>
            <p:cNvPr id="7" name="TextBox 7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Diacritics emerged as the most influential feature, indicating their </a:t>
              </a:r>
              <a:r>
                <a:rPr lang="en-US" sz="2100" b="1" dirty="0">
                  <a:solidFill>
                    <a:srgbClr val="102A4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significance</a:t>
              </a:r>
              <a:r>
                <a:rPr lang="en-US" sz="2100" dirty="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 in distinguishing between AI-generated and human texts effectively.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Feature Analysis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2457450"/>
            <a:ext cx="6886575" cy="1790700"/>
            <a:chOff x="0" y="0"/>
            <a:chExt cx="9182100" cy="23876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The BERT model exhibited a </a:t>
              </a:r>
              <a:r>
                <a:rPr lang="en-US" sz="2100" b="1">
                  <a:solidFill>
                    <a:srgbClr val="102A4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misclassification rate</a:t>
              </a: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 of only 0.54%, indicating its high effectiveness in detecting AI-generated Arabic texts.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Misclassification Rate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5143500"/>
            <a:ext cx="6886575" cy="1790700"/>
            <a:chOff x="0" y="0"/>
            <a:chExt cx="9182100" cy="23876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Understanding these errors provides valuable insights for </a:t>
              </a:r>
              <a:r>
                <a:rPr lang="en-US" sz="2100" b="1">
                  <a:solidFill>
                    <a:srgbClr val="102A4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future model enhancements</a:t>
              </a: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, refining performance in edge cases of detection.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Future Improvements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96400" y="2457450"/>
            <a:ext cx="6886575" cy="1790700"/>
            <a:chOff x="0" y="0"/>
            <a:chExt cx="9182100" cy="23876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Errors primarily occurred in formal academic writings, suggesting a </a:t>
              </a:r>
              <a:r>
                <a:rPr lang="en-US" sz="2100" b="1">
                  <a:solidFill>
                    <a:srgbClr val="102A43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style overlap</a:t>
              </a:r>
              <a:r>
                <a:rPr lang="en-US" sz="2100">
                  <a:solidFill>
                    <a:srgbClr val="102A43"/>
                  </a:solidFill>
                  <a:latin typeface="TT Fors"/>
                  <a:ea typeface="TT Fors"/>
                  <a:cs typeface="TT Fors"/>
                  <a:sym typeface="TT Fors"/>
                </a:rPr>
                <a:t> between AI-generated content and certain human-written texts.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02A4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Error Patterns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485900" y="1304298"/>
            <a:ext cx="17154921" cy="8592805"/>
          </a:xfrm>
          <a:custGeom>
            <a:avLst/>
            <a:gdLst/>
            <a:ahLst/>
            <a:cxnLst/>
            <a:rect l="l" t="t" r="r" b="b"/>
            <a:pathLst>
              <a:path w="17154921" h="8592805">
                <a:moveTo>
                  <a:pt x="0" y="0"/>
                </a:moveTo>
                <a:lnTo>
                  <a:pt x="17154921" y="0"/>
                </a:lnTo>
                <a:lnTo>
                  <a:pt x="17154921" y="8592804"/>
                </a:lnTo>
                <a:lnTo>
                  <a:pt x="0" y="8592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827244" y="847098"/>
            <a:ext cx="17154921" cy="8592805"/>
          </a:xfrm>
          <a:custGeom>
            <a:avLst/>
            <a:gdLst/>
            <a:ahLst/>
            <a:cxnLst/>
            <a:rect l="l" t="t" r="r" b="b"/>
            <a:pathLst>
              <a:path w="17154921" h="8592805">
                <a:moveTo>
                  <a:pt x="0" y="0"/>
                </a:moveTo>
                <a:lnTo>
                  <a:pt x="17154921" y="0"/>
                </a:lnTo>
                <a:lnTo>
                  <a:pt x="17154921" y="8592804"/>
                </a:lnTo>
                <a:lnTo>
                  <a:pt x="0" y="8592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2790195" y="2218340"/>
            <a:ext cx="13229017" cy="5850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400"/>
              </a:lnSpc>
              <a:spcAft>
                <a:spcPts val="1800"/>
              </a:spcAft>
            </a:pPr>
            <a:r>
              <a:rPr lang="en-US" sz="3200" b="1" dirty="0">
                <a:solidFill>
                  <a:srgbClr val="102A43"/>
                </a:solidFill>
                <a:latin typeface="TT Fors"/>
                <a:sym typeface="ITC Avant Garde Gothic"/>
              </a:rPr>
              <a:t>Conclusion</a:t>
            </a:r>
            <a:r>
              <a:rPr lang="en-US" sz="3200" dirty="0">
                <a:solidFill>
                  <a:srgbClr val="102A43"/>
                </a:solidFill>
                <a:latin typeface="TT Fors"/>
                <a:sym typeface="ITC Avant Garde Gothic"/>
              </a:rPr>
              <a:t>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02A43"/>
                </a:solidFill>
                <a:latin typeface="TT Fors"/>
                <a:sym typeface="ITC Avant Garde Gothic"/>
              </a:rPr>
              <a:t>AraBERT provides state-of-the-art performance for Arabic AI text detection.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02A43"/>
                </a:solidFill>
                <a:latin typeface="TT Fors"/>
                <a:sym typeface="ITC Avant Garde Gothic"/>
              </a:rPr>
              <a:t>Random Forest offers a strong, interpretable alternative.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02A43"/>
                </a:solidFill>
                <a:latin typeface="TT Fors"/>
                <a:sym typeface="ITC Avant Garde Gothic"/>
              </a:rPr>
              <a:t>Linguistic and stylistic features are highly effective for Arabic.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02A43"/>
                </a:solidFill>
                <a:latin typeface="TT Fors"/>
                <a:sym typeface="ITC Avant Garde Gothic"/>
              </a:rPr>
              <a:t>The study confirms that AI-generated Arabic text leaves measurable statistical fingerprints.</a:t>
            </a:r>
          </a:p>
          <a:p>
            <a:pPr marL="0" lvl="0" indent="0" algn="just">
              <a:lnSpc>
                <a:spcPts val="4400"/>
              </a:lnSpc>
            </a:pPr>
            <a:endParaRPr lang="en-US" sz="6000" spc="-132" dirty="0">
              <a:solidFill>
                <a:srgbClr val="102A43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896</Words>
  <Application>Microsoft Office PowerPoint</Application>
  <PresentationFormat>Custom</PresentationFormat>
  <Paragraphs>117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TT Fors Bold</vt:lpstr>
      <vt:lpstr>Aptos</vt:lpstr>
      <vt:lpstr>Arial</vt:lpstr>
      <vt:lpstr>ITC Avant Garde Gothic Bold</vt:lpstr>
      <vt:lpstr>ITC Avant Garde Gothic</vt:lpstr>
      <vt:lpstr>TT Fors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Detecting AI-Generated Arabic Texts</dc:title>
  <dc:creator>dell</dc:creator>
  <dc:description>Presentation - Detecting AI-Generated Arabic Texts</dc:description>
  <cp:lastModifiedBy>MANAR GHAZI MAHMOUD HUSSEIN</cp:lastModifiedBy>
  <cp:revision>5</cp:revision>
  <dcterms:created xsi:type="dcterms:W3CDTF">2006-08-16T00:00:00Z</dcterms:created>
  <dcterms:modified xsi:type="dcterms:W3CDTF">2025-12-14T18:56:27Z</dcterms:modified>
  <dc:identifier>DAG7f7f1_YM</dc:identifier>
</cp:coreProperties>
</file>